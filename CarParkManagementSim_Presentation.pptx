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Royal University of Phnom Penh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of Engineering  |  Department of IT Engineering  |  Master of Data Science and Engineering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Car Park Management Sim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25146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Producer-Consumer Threading Simulation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3200400"/>
            <a:ext cx="22860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47472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 — Programming Assignment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Instructor: Kor Sokchea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Author: vattanac  |  March 2026</a:t>
            </a:r>
            <a:endParaRPr lang="en-US" sz="13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3474720"/>
            <a:ext cx="1097280" cy="10972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3B82F6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20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 Overview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822960"/>
            <a:ext cx="13716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80160"/>
            <a:ext cx="2560320" cy="256032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280160"/>
            <a:ext cx="54864" cy="2560320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5544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1488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Producers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22960" y="251460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cars at configurable rates, simulating arrivals at the parking gate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383280" y="1280160"/>
            <a:ext cx="2560320" cy="256032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383280" y="1280160"/>
            <a:ext cx="54864" cy="2560320"/>
          </a:xfrm>
          <a:prstGeom prst="rect">
            <a:avLst/>
          </a:prstGeom>
          <a:solidFill>
            <a:srgbClr val="22D3E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55448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57600" y="21488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Buffer (Lot)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3657600" y="251460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Fixed-size bounded buffer protected by Semaphores, Mutex, and Condition Variables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217920" y="1280160"/>
            <a:ext cx="2560320" cy="256032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17920" y="1280160"/>
            <a:ext cx="54864" cy="256032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55448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92240" y="21488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Consumers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6492240" y="251460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Parking guides remove cars, simulate processing work, and release spaces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731520" y="41148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simulation demonstrates real OS concepts: multi-threading, critical sections, deadlock detection, and dynamic resource management.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8412480" y="46634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0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822960"/>
            <a:ext cx="13716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8046720" cy="77724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88720"/>
            <a:ext cx="54864" cy="777240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344168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234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com.carpark.model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114800" y="1234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Car, SimulationMetrics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371600" y="157276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entities &amp; thread-safe stats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2103120"/>
            <a:ext cx="8046720" cy="77724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48640" y="2103120"/>
            <a:ext cx="54864" cy="777240"/>
          </a:xfrm>
          <a:prstGeom prst="rect">
            <a:avLst/>
          </a:prstGeom>
          <a:solidFill>
            <a:srgbClr val="22D3E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258568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371600" y="2148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com.carpark.sync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114800" y="21488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ParkingLot, PetersonLock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1371600" y="248716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buffer &amp; mutual exclusion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48640" y="3017520"/>
            <a:ext cx="8046720" cy="77724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48640" y="3017520"/>
            <a:ext cx="54864" cy="77724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172968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71600" y="3063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com.carpark.thread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4114800" y="3063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CarProducer, ParkingGuide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1371600" y="340156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 &amp; Consumer threads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548640" y="3931920"/>
            <a:ext cx="8046720" cy="77724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548640" y="3931920"/>
            <a:ext cx="54864" cy="77724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087368"/>
            <a:ext cx="365760" cy="3657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371600" y="3977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com.carpark.ui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4114800" y="39776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CarParkSimApp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1371600" y="431596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JavaFX GUI, isometric renderer, dashboard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8412480" y="46634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20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Synchronization Strategy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822960"/>
            <a:ext cx="13716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4114800" cy="347472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1887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Primary: Semaphore + Lock + Condition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3749040" cy="347472"/>
          </a:xfrm>
          <a:prstGeom prst="rect">
            <a:avLst/>
          </a:prstGeom>
          <a:solidFill>
            <a:srgbClr val="243156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691640"/>
            <a:ext cx="45720" cy="34747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69164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emptySlots.acquire()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017520" y="16916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if lot full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40080" y="2130552"/>
            <a:ext cx="3749040" cy="347472"/>
          </a:xfrm>
          <a:prstGeom prst="rect">
            <a:avLst/>
          </a:prstGeom>
          <a:solidFill>
            <a:srgbClr val="243156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2130552"/>
            <a:ext cx="45720" cy="34747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13055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lock.lock()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017520" y="213055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critical section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40080" y="2569464"/>
            <a:ext cx="3749040" cy="347472"/>
          </a:xfrm>
          <a:prstGeom prst="rect">
            <a:avLst/>
          </a:prstGeom>
          <a:solidFill>
            <a:srgbClr val="243156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2569464"/>
            <a:ext cx="45720" cy="34747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256946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queue.add(car)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017520" y="256946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 shared state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0080" y="3008376"/>
            <a:ext cx="3749040" cy="347472"/>
          </a:xfrm>
          <a:prstGeom prst="rect">
            <a:avLst/>
          </a:prstGeom>
          <a:solidFill>
            <a:srgbClr val="243156"/>
          </a:solidFill>
          <a:ln/>
        </p:spPr>
      </p:sp>
      <p:sp>
        <p:nvSpPr>
          <p:cNvPr id="19" name="Shape 17"/>
          <p:cNvSpPr/>
          <p:nvPr/>
        </p:nvSpPr>
        <p:spPr>
          <a:xfrm>
            <a:off x="640080" y="3008376"/>
            <a:ext cx="45720" cy="34747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300837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notEmpty.signal()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017520" y="300837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Wake consumer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40080" y="3447288"/>
            <a:ext cx="3749040" cy="347472"/>
          </a:xfrm>
          <a:prstGeom prst="rect">
            <a:avLst/>
          </a:prstGeom>
          <a:solidFill>
            <a:srgbClr val="243156"/>
          </a:solidFill>
          <a:ln/>
        </p:spPr>
      </p:sp>
      <p:sp>
        <p:nvSpPr>
          <p:cNvPr id="23" name="Shape 21"/>
          <p:cNvSpPr/>
          <p:nvPr/>
        </p:nvSpPr>
        <p:spPr>
          <a:xfrm>
            <a:off x="640080" y="3447288"/>
            <a:ext cx="45720" cy="34747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344728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lock.unlock()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017520" y="344728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critical section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40080" y="3886200"/>
            <a:ext cx="3749040" cy="347472"/>
          </a:xfrm>
          <a:prstGeom prst="rect">
            <a:avLst/>
          </a:prstGeom>
          <a:solidFill>
            <a:srgbClr val="243156"/>
          </a:solidFill>
          <a:ln/>
        </p:spPr>
      </p:sp>
      <p:sp>
        <p:nvSpPr>
          <p:cNvPr id="27" name="Shape 25"/>
          <p:cNvSpPr/>
          <p:nvPr/>
        </p:nvSpPr>
        <p:spPr>
          <a:xfrm>
            <a:off x="640080" y="3886200"/>
            <a:ext cx="45720" cy="34747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388620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occupiedSlots.release()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017520" y="388620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slot occupied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65760" cy="365760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5394960" y="1188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Peterson’s Algorithm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4937760" y="169164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2-process mutual exclusion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flag[i] = true;  // I want in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turn = other;    // You go first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while(flag[other] &amp;&amp; turn==other)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yield();       // Busy-wait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Guarantees: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Exclusion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Waiting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8412480" y="46634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20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Thread Safety Mechanisms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822960"/>
            <a:ext cx="1371600" cy="36576"/>
          </a:xfrm>
          <a:prstGeom prst="rect">
            <a:avLst/>
          </a:prstGeom>
          <a:solidFill>
            <a:srgbClr val="3B82F6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560320"/>
                <a:gridCol w="36576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Mechanism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Semaphore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ParkingLot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Counting permits for empty/occupied slots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ReentrantLock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ParkingLot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Mutex protecting the shared queue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ParkingLot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Sleep/wake signaling between threads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volatile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CarProducer, ParkingGuide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Thread-safe field visibility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AtomicInteger/Long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SimulationMetrics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Lock-free counter updates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PetersonLock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PetersonLock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2-process mutual exclusion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412480" y="46634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20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Features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822960"/>
            <a:ext cx="13716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097280"/>
            <a:ext cx="2697480" cy="160020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54864" cy="1600200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28016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17373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Occupancy Graph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94360" y="20574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line chart tracking occupancy % over 60 seconds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46120" y="1097280"/>
            <a:ext cx="2697480" cy="160020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46120" y="1097280"/>
            <a:ext cx="54864" cy="160020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128016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74720" y="17373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Threads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474720" y="20574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Add/remove Producers and Consumers at runtime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126480" y="1097280"/>
            <a:ext cx="2697480" cy="160020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126480" y="1097280"/>
            <a:ext cx="54864" cy="160020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28016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55080" y="17373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Deadlock Detection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355080" y="20574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Auto-detects blocked threads with context-aware warnings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365760" y="2926080"/>
            <a:ext cx="2697480" cy="160020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365760" y="2926080"/>
            <a:ext cx="54864" cy="160020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10896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94360" y="35661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 Control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594360" y="38862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1x, 2x, 4x, 8x multiplier for fast-forward demos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3246120" y="2926080"/>
            <a:ext cx="2697480" cy="160020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246120" y="2926080"/>
            <a:ext cx="54864" cy="1600200"/>
          </a:xfrm>
          <a:prstGeom prst="rect">
            <a:avLst/>
          </a:prstGeom>
          <a:solidFill>
            <a:srgbClr val="22D3EE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0" y="3108960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474720" y="35661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Metrics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3474720" y="38862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Occupancy, throughput, wait time, park duration, thread status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6126480" y="2926080"/>
            <a:ext cx="2697480" cy="160020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126480" y="2926080"/>
            <a:ext cx="54864" cy="1600200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3108960"/>
            <a:ext cx="365760" cy="36576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355080" y="35661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Isometric 3D Scene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6355080" y="38862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Nighttime parking lot with animated car driving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8412480" y="46634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20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Visual Dashboard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822960"/>
            <a:ext cx="13716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097280"/>
            <a:ext cx="1965960" cy="137160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2377440"/>
            <a:ext cx="1965960" cy="914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23444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70%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02920" y="17830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02996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Color-coded alerts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14600" y="1097280"/>
            <a:ext cx="1965960" cy="137160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14600" y="2377440"/>
            <a:ext cx="1965960" cy="914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2651760" y="123444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1.09/s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651760" y="17830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51760" y="202996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per second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63440" y="1097280"/>
            <a:ext cx="1965960" cy="137160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2377440"/>
            <a:ext cx="1965960" cy="9144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6" name="Text 14"/>
          <p:cNvSpPr/>
          <p:nvPr/>
        </p:nvSpPr>
        <p:spPr>
          <a:xfrm>
            <a:off x="4800600" y="123444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800ms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800600" y="17830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Wait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00600" y="202996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wait time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812280" y="1097280"/>
            <a:ext cx="1965960" cy="137160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12280" y="2377440"/>
            <a:ext cx="1965960" cy="914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6949440" y="123444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1200ms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949440" y="17830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 Duration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949440" y="202996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parked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2743200"/>
            <a:ext cx="4114800" cy="201168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48640" y="2834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Thread Status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31520" y="32004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⚡  Producer-1  ACTIVE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31520" y="34930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⏸  Producer-2  WAITING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31520" y="378561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⏸  Producer-3  WAITING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31520" y="407822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⚡  Guide-1  ACTIVE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31520" y="437083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⚡  Guide-2  ACTIVE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663440" y="2743200"/>
            <a:ext cx="4023360" cy="201168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846320" y="2834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Controls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029200" y="32004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Capacity:  1 – 18 slots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029200" y="349300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Rate:  200 – 5000 ms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029200" y="378561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Consumption Rate:  200 – 5000 ms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029200" y="40782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Time:  100 – 5000 ms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029200" y="437083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Multiplier:  1x / 2x / 4x / 8x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412480" y="46634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20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Improvements Made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822960"/>
            <a:ext cx="13716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051560"/>
            <a:ext cx="4114800" cy="804672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051560"/>
            <a:ext cx="45720" cy="80467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12471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05840" y="11247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Peterson’s Algorithm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4173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mutual exclusion implementation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566160" y="12801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15%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663440" y="1051560"/>
            <a:ext cx="4114800" cy="804672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1" name="Shape 9"/>
          <p:cNvSpPr/>
          <p:nvPr/>
        </p:nvSpPr>
        <p:spPr>
          <a:xfrm>
            <a:off x="4663440" y="1051560"/>
            <a:ext cx="45720" cy="80467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112471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303520" y="11247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Section Marking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03520" y="14173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annotated comments in code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863840" y="12801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15%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65760" y="2011680"/>
            <a:ext cx="4114800" cy="804672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7" name="Shape 15"/>
          <p:cNvSpPr/>
          <p:nvPr/>
        </p:nvSpPr>
        <p:spPr>
          <a:xfrm>
            <a:off x="365760" y="2011680"/>
            <a:ext cx="45720" cy="80467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208483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05840" y="20848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 Lifecycle Logging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05840" y="23774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Per-car park/depart event log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566160" y="22402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 40%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663440" y="2011680"/>
            <a:ext cx="4114800" cy="804672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3" name="Shape 21"/>
          <p:cNvSpPr/>
          <p:nvPr/>
        </p:nvSpPr>
        <p:spPr>
          <a:xfrm>
            <a:off x="4663440" y="2011680"/>
            <a:ext cx="45720" cy="80467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4" name="Text 22"/>
          <p:cNvSpPr/>
          <p:nvPr/>
        </p:nvSpPr>
        <p:spPr>
          <a:xfrm>
            <a:off x="4800600" y="208483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303520" y="20848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Parking Duration Metric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303520" y="23774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car lifecycle tracking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863840" y="22402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 40%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65760" y="2971800"/>
            <a:ext cx="4114800" cy="804672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9" name="Shape 27"/>
          <p:cNvSpPr/>
          <p:nvPr/>
        </p:nvSpPr>
        <p:spPr>
          <a:xfrm>
            <a:off x="365760" y="2971800"/>
            <a:ext cx="45720" cy="80467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0" name="Text 28"/>
          <p:cNvSpPr/>
          <p:nvPr/>
        </p:nvSpPr>
        <p:spPr>
          <a:xfrm>
            <a:off x="502920" y="304495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1005840" y="3044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 Documentation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005840" y="33375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Javadoc for all 4 packages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566160" y="32004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10%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663440" y="2971800"/>
            <a:ext cx="4114800" cy="804672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5" name="Shape 33"/>
          <p:cNvSpPr/>
          <p:nvPr/>
        </p:nvSpPr>
        <p:spPr>
          <a:xfrm>
            <a:off x="4663440" y="2971800"/>
            <a:ext cx="45720" cy="80467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6" name="Text 34"/>
          <p:cNvSpPr/>
          <p:nvPr/>
        </p:nvSpPr>
        <p:spPr>
          <a:xfrm>
            <a:off x="4800600" y="304495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5303520" y="3044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Occupancy Graph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303520" y="33375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60-second chart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863840" y="32004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65760" y="3931920"/>
            <a:ext cx="4114800" cy="804672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1" name="Shape 39"/>
          <p:cNvSpPr/>
          <p:nvPr/>
        </p:nvSpPr>
        <p:spPr>
          <a:xfrm>
            <a:off x="365760" y="3931920"/>
            <a:ext cx="45720" cy="80467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2" name="Text 40"/>
          <p:cNvSpPr/>
          <p:nvPr/>
        </p:nvSpPr>
        <p:spPr>
          <a:xfrm>
            <a:off x="502920" y="400507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1005840" y="40050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Thread Add/Remove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1005840" y="42976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thread management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566160" y="4160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663440" y="3931920"/>
            <a:ext cx="4114800" cy="804672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7" name="Shape 45"/>
          <p:cNvSpPr/>
          <p:nvPr/>
        </p:nvSpPr>
        <p:spPr>
          <a:xfrm>
            <a:off x="4663440" y="3931920"/>
            <a:ext cx="45720" cy="80467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8" name="Text 46"/>
          <p:cNvSpPr/>
          <p:nvPr/>
        </p:nvSpPr>
        <p:spPr>
          <a:xfrm>
            <a:off x="4800600" y="400507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2000" dirty="0"/>
          </a:p>
        </p:txBody>
      </p:sp>
      <p:sp>
        <p:nvSpPr>
          <p:cNvPr id="49" name="Text 47"/>
          <p:cNvSpPr/>
          <p:nvPr/>
        </p:nvSpPr>
        <p:spPr>
          <a:xfrm>
            <a:off x="5303520" y="40050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Deadlock Detection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5303520" y="42976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stall monitoring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7863840" y="4160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8412480" y="46634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20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 Demo Guide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822960"/>
            <a:ext cx="13716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51560"/>
            <a:ext cx="8229600" cy="438912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51560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1051560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Start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1143000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0" y="105156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cars drive in from road and park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1581912"/>
            <a:ext cx="8229600" cy="438912"/>
          </a:xfrm>
          <a:prstGeom prst="rect">
            <a:avLst/>
          </a:prstGeom>
          <a:solidFill>
            <a:srgbClr val="243156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1581912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05840" y="1581912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Capacity = 5, Prod Rate = 500ms</a:t>
            </a:r>
            <a:endParaRPr lang="en-US" sz="12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1673352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72000" y="1581912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builds up on the road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57200" y="2112264"/>
            <a:ext cx="8229600" cy="438912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5" name="Text 11"/>
          <p:cNvSpPr/>
          <p:nvPr/>
        </p:nvSpPr>
        <p:spPr>
          <a:xfrm>
            <a:off x="548640" y="2112264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1005840" y="2112264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+ on Producers</a:t>
            </a:r>
            <a:endParaRPr lang="en-US" sz="12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2203704"/>
            <a:ext cx="256032" cy="25603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572000" y="2112264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4th producer floods the lot faster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57200" y="2642616"/>
            <a:ext cx="8229600" cy="438912"/>
          </a:xfrm>
          <a:prstGeom prst="rect">
            <a:avLst/>
          </a:prstGeom>
          <a:solidFill>
            <a:srgbClr val="243156"/>
          </a:solidFill>
          <a:ln/>
        </p:spPr>
      </p:sp>
      <p:sp>
        <p:nvSpPr>
          <p:cNvPr id="20" name="Text 15"/>
          <p:cNvSpPr/>
          <p:nvPr/>
        </p:nvSpPr>
        <p:spPr>
          <a:xfrm>
            <a:off x="548640" y="2642616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1005840" y="2642616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4x speed</a:t>
            </a:r>
            <a:endParaRPr lang="en-US" sz="12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0" y="2734056"/>
            <a:ext cx="256032" cy="25603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4572000" y="2642616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Fast-forward to see steady-state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57200" y="3172968"/>
            <a:ext cx="8229600" cy="438912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5" name="Text 19"/>
          <p:cNvSpPr/>
          <p:nvPr/>
        </p:nvSpPr>
        <p:spPr>
          <a:xfrm>
            <a:off x="548640" y="3172968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1005840" y="3172968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+ on Consumers twice</a:t>
            </a:r>
            <a:endParaRPr lang="en-US" sz="1200" dirty="0"/>
          </a:p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6240" y="3264408"/>
            <a:ext cx="256032" cy="25603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572000" y="3172968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 drains, graph drops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457200" y="3703320"/>
            <a:ext cx="8229600" cy="438912"/>
          </a:xfrm>
          <a:prstGeom prst="rect">
            <a:avLst/>
          </a:prstGeom>
          <a:solidFill>
            <a:srgbClr val="243156"/>
          </a:solidFill>
          <a:ln/>
        </p:spPr>
      </p:sp>
      <p:sp>
        <p:nvSpPr>
          <p:cNvPr id="30" name="Text 23"/>
          <p:cNvSpPr/>
          <p:nvPr/>
        </p:nvSpPr>
        <p:spPr>
          <a:xfrm>
            <a:off x="548640" y="3703320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4"/>
          <p:cNvSpPr/>
          <p:nvPr/>
        </p:nvSpPr>
        <p:spPr>
          <a:xfrm>
            <a:off x="1005840" y="3703320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all but 1 Consumer</a:t>
            </a:r>
            <a:endParaRPr lang="en-US" sz="1200" dirty="0"/>
          </a:p>
        </p:txBody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6240" y="3794760"/>
            <a:ext cx="256032" cy="25603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4572000" y="370332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Deadlock warning appears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457200" y="4233672"/>
            <a:ext cx="8229600" cy="438912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5" name="Text 27"/>
          <p:cNvSpPr/>
          <p:nvPr/>
        </p:nvSpPr>
        <p:spPr>
          <a:xfrm>
            <a:off x="548640" y="4233672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1600" dirty="0"/>
          </a:p>
        </p:txBody>
      </p:sp>
      <p:sp>
        <p:nvSpPr>
          <p:cNvPr id="36" name="Text 28"/>
          <p:cNvSpPr/>
          <p:nvPr/>
        </p:nvSpPr>
        <p:spPr>
          <a:xfrm>
            <a:off x="1005840" y="4233672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Stop and Reset</a:t>
            </a:r>
            <a:endParaRPr lang="en-US" sz="1200" dirty="0"/>
          </a:p>
        </p:txBody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06240" y="4325112"/>
            <a:ext cx="256032" cy="256032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4572000" y="4233672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restart for next scenario</a:t>
            </a:r>
            <a:endParaRPr lang="en-US" sz="1100" dirty="0"/>
          </a:p>
        </p:txBody>
      </p:sp>
      <p:sp>
        <p:nvSpPr>
          <p:cNvPr id="39" name="Text 30"/>
          <p:cNvSpPr/>
          <p:nvPr/>
        </p:nvSpPr>
        <p:spPr>
          <a:xfrm>
            <a:off x="8412480" y="46634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spc="4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Park Management Sim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0" y="2743200"/>
            <a:ext cx="18288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30175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800" dirty="0"/>
          </a:p>
          <a:p>
            <a:pPr algn="ctr" indent="0" marL="0">
              <a:buNone/>
            </a:pPr>
            <a:endParaRPr lang="en-US" sz="18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vattanac  |  RUPP  |  March 2026</a:t>
            </a:r>
            <a:endParaRPr lang="en-US" sz="1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4114800"/>
            <a:ext cx="914400" cy="9144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3B82F6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 Park Management Sim</dc:title>
  <dc:subject>PptxGenJS Presentation</dc:subject>
  <dc:creator>vattanac</dc:creator>
  <cp:lastModifiedBy>vattanac</cp:lastModifiedBy>
  <cp:revision>1</cp:revision>
  <dcterms:created xsi:type="dcterms:W3CDTF">2026-03-18T09:54:59Z</dcterms:created>
  <dcterms:modified xsi:type="dcterms:W3CDTF">2026-03-18T09:54:59Z</dcterms:modified>
</cp:coreProperties>
</file>